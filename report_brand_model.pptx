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" y="36576"/>
            <a:ext cx="731337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LG 65NU85,  AAA BBB,  Hisense 65A6N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438912"/>
            <a:ext cx="12188952" cy="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62556" y="548640"/>
          <a:ext cx="7863840" cy="2715768"/>
        </p:xfrm>
        <a:graphic>
          <a:graphicData uri="http://schemas.openxmlformats.org/drawingml/2006/table">
            <a:tbl>
              <a:tblPr firstRow="1" bandRow="1"/>
              <a:tblGrid>
                <a:gridCol w="1005840"/>
                <a:gridCol w="777240"/>
                <a:gridCol w="868680"/>
                <a:gridCol w="1737360"/>
                <a:gridCol w="173736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Category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LG_65NU85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AAA_BBB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Hisense_65A6N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rowSpan="6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White Luminance [nit]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HDR vivid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851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327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316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588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SDR vivid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475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100%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313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474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326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Contrast Ratio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1414.4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5768.2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6466.3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Black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0.1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row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</a:rPr>
                        <a:t>Color Gamut[%]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DCI-P3 (%)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82.4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79.2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82.9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v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BT.2020 (%)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61.5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57.7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61.3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Reflectance [%]  (SCI/SCE)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888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</a:rPr>
                        <a:t>Local Dimming Count  [block]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r>
                        <a:rPr sz="1200"/>
                        <a:t> 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>
                    <a:noFill/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Picture 4" descr="tmpd_6bmh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3904488"/>
            <a:ext cx="3989832" cy="2743200"/>
          </a:xfrm>
          <a:prstGeom prst="rect">
            <a:avLst/>
          </a:prstGeom>
        </p:spPr>
      </p:pic>
      <p:pic>
        <p:nvPicPr>
          <p:cNvPr id="6" name="Picture 5" descr="tmp7vtohu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60" y="3904488"/>
            <a:ext cx="3989832" cy="2743200"/>
          </a:xfrm>
          <a:prstGeom prst="rect">
            <a:avLst/>
          </a:prstGeom>
        </p:spPr>
      </p:pic>
      <p:pic>
        <p:nvPicPr>
          <p:cNvPr id="7" name="Picture 6" descr="tmp5cl_ggf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60" y="3904488"/>
            <a:ext cx="2743200" cy="2743200"/>
          </a:xfrm>
          <a:prstGeom prst="rect">
            <a:avLst/>
          </a:prstGeom>
        </p:spPr>
      </p:pic>
      <p:pic>
        <p:nvPicPr>
          <p:cNvPr id="8" name="Picture 7" descr="tmp5cl_ggfx.png"/>
          <p:cNvPicPr>
            <a:picLocks noChangeAspect="1"/>
          </p:cNvPicPr>
          <p:nvPr/>
        </p:nvPicPr>
        <p:blipFill>
          <a:blip r:embed="rId4"/>
          <a:srcRect l="16417" t="4487" r="57583" b="69513"/>
          <a:stretch>
            <a:fillRect/>
          </a:stretch>
        </p:blipFill>
        <p:spPr>
          <a:xfrm>
            <a:off x="8162543" y="3941064"/>
            <a:ext cx="868680" cy="868680"/>
          </a:xfrm>
          <a:prstGeom prst="rect">
            <a:avLst/>
          </a:prstGeom>
        </p:spPr>
      </p:pic>
      <p:pic>
        <p:nvPicPr>
          <p:cNvPr id="9" name="Picture 8" descr="tmp5cl_ggfx.png"/>
          <p:cNvPicPr>
            <a:picLocks noChangeAspect="1"/>
          </p:cNvPicPr>
          <p:nvPr/>
        </p:nvPicPr>
        <p:blipFill>
          <a:blip r:embed="rId4"/>
          <a:srcRect l="57584" t="9146" r="16416" b="64854"/>
          <a:stretch>
            <a:fillRect/>
          </a:stretch>
        </p:blipFill>
        <p:spPr>
          <a:xfrm>
            <a:off x="11283696" y="3941064"/>
            <a:ext cx="868680" cy="868680"/>
          </a:xfrm>
          <a:prstGeom prst="rect">
            <a:avLst/>
          </a:prstGeom>
        </p:spPr>
      </p:pic>
      <p:pic>
        <p:nvPicPr>
          <p:cNvPr id="10" name="Picture 9" descr="tmp5cl_ggfx.png"/>
          <p:cNvPicPr>
            <a:picLocks noChangeAspect="1"/>
          </p:cNvPicPr>
          <p:nvPr/>
        </p:nvPicPr>
        <p:blipFill>
          <a:blip r:embed="rId4"/>
          <a:srcRect l="23687" t="50244" r="50313" b="23756"/>
          <a:stretch>
            <a:fillRect/>
          </a:stretch>
        </p:blipFill>
        <p:spPr>
          <a:xfrm>
            <a:off x="8162543" y="5742432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