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" y="36576"/>
            <a:ext cx="7313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LG 65MLED85BKA,  LG 65NU85,  Hisense 65A6N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438912"/>
            <a:ext cx="1218895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62556" y="548640"/>
          <a:ext cx="7863840" cy="2715768"/>
        </p:xfrm>
        <a:graphic>
          <a:graphicData uri="http://schemas.openxmlformats.org/drawingml/2006/table">
            <a:tbl>
              <a:tblPr firstRow="1" bandRow="1"/>
              <a:tblGrid>
                <a:gridCol w="1005840"/>
                <a:gridCol w="777240"/>
                <a:gridCol w="868680"/>
                <a:gridCol w="1737360"/>
                <a:gridCol w="173736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Category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Item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LG_65MLED85BKA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LG_65NU85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Hisense_65A6N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rowSpan="6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White Luminance [nit]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HDR vivid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797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327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590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316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SDR vivid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811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312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593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326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Contrast Ratio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7134.6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1414.4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6466.3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Black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Color Gamut[%]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DCI-P3 (%)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96.8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82.4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82.9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BT.2020 (%)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75.8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61.5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61.3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</a:rPr>
                        <a:t>Reflectance [%]  (SCI/SCE)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</a:rPr>
                        <a:t>Local Dimming Count  [block]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Picture 4" descr="tmpaz92ng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3904488"/>
            <a:ext cx="3989832" cy="2743200"/>
          </a:xfrm>
          <a:prstGeom prst="rect">
            <a:avLst/>
          </a:prstGeom>
        </p:spPr>
      </p:pic>
      <p:pic>
        <p:nvPicPr>
          <p:cNvPr id="6" name="Picture 5" descr="tmp0r8lrk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60" y="3904488"/>
            <a:ext cx="3989832" cy="2743200"/>
          </a:xfrm>
          <a:prstGeom prst="rect">
            <a:avLst/>
          </a:prstGeom>
        </p:spPr>
      </p:pic>
      <p:pic>
        <p:nvPicPr>
          <p:cNvPr id="7" name="Picture 6" descr="tmpg_pdm9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860" y="3904488"/>
            <a:ext cx="2743200" cy="2743200"/>
          </a:xfrm>
          <a:prstGeom prst="rect">
            <a:avLst/>
          </a:prstGeom>
        </p:spPr>
      </p:pic>
      <p:pic>
        <p:nvPicPr>
          <p:cNvPr id="8" name="Picture 7" descr="tmpg_pdm9_n.png"/>
          <p:cNvPicPr>
            <a:picLocks noChangeAspect="1"/>
          </p:cNvPicPr>
          <p:nvPr/>
        </p:nvPicPr>
        <p:blipFill>
          <a:blip r:embed="rId4"/>
          <a:srcRect l="11930" t="4491" r="62070" b="69509"/>
          <a:stretch>
            <a:fillRect/>
          </a:stretch>
        </p:blipFill>
        <p:spPr>
          <a:xfrm>
            <a:off x="8162543" y="3941064"/>
            <a:ext cx="868680" cy="868680"/>
          </a:xfrm>
          <a:prstGeom prst="rect">
            <a:avLst/>
          </a:prstGeom>
        </p:spPr>
      </p:pic>
      <p:pic>
        <p:nvPicPr>
          <p:cNvPr id="9" name="Picture 8" descr="tmpg_pdm9_n.png"/>
          <p:cNvPicPr>
            <a:picLocks noChangeAspect="1"/>
          </p:cNvPicPr>
          <p:nvPr/>
        </p:nvPicPr>
        <p:blipFill>
          <a:blip r:embed="rId4"/>
          <a:srcRect l="64946" t="9912" r="9054" b="64088"/>
          <a:stretch>
            <a:fillRect/>
          </a:stretch>
        </p:blipFill>
        <p:spPr>
          <a:xfrm>
            <a:off x="11283696" y="3941064"/>
            <a:ext cx="868680" cy="868680"/>
          </a:xfrm>
          <a:prstGeom prst="rect">
            <a:avLst/>
          </a:prstGeom>
        </p:spPr>
      </p:pic>
      <p:pic>
        <p:nvPicPr>
          <p:cNvPr id="10" name="Picture 9" descr="tmpg_pdm9_n.png"/>
          <p:cNvPicPr>
            <a:picLocks noChangeAspect="1"/>
          </p:cNvPicPr>
          <p:nvPr/>
        </p:nvPicPr>
        <p:blipFill>
          <a:blip r:embed="rId4"/>
          <a:srcRect l="22420" t="48357" r="51580" b="25643"/>
          <a:stretch>
            <a:fillRect/>
          </a:stretch>
        </p:blipFill>
        <p:spPr>
          <a:xfrm>
            <a:off x="8162543" y="574243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